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1325880"/>
            <a:ext cx="475488" cy="475488"/>
          </a:xfrm>
          <a:prstGeom prst="ellipse">
            <a:avLst/>
          </a:prstGeom>
          <a:solidFill>
            <a:srgbClr val="5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2057400"/>
            <a:ext cx="365760" cy="365760"/>
          </a:xfrm>
          <a:prstGeom prst="ellipse">
            <a:avLst/>
          </a:prstGeom>
          <a:solidFill>
            <a:srgbClr val="9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3063240"/>
            <a:ext cx="566928" cy="566928"/>
          </a:xfrm>
          <a:prstGeom prst="ellipse">
            <a:avLst/>
          </a:prstGeom>
          <a:solidFill>
            <a:srgbClr val="4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3703320"/>
            <a:ext cx="438912" cy="438912"/>
          </a:xfrm>
          <a:prstGeom prst="ellipse">
            <a:avLst/>
          </a:prstGeom>
          <a:solidFill>
            <a:srgbClr val="5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09560" y="4160520"/>
            <a:ext cx="329184" cy="329184"/>
          </a:xfrm>
          <a:prstGeom prst="ellipse">
            <a:avLst/>
          </a:prstGeom>
          <a:solidFill>
            <a:srgbClr val="9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24160" y="1234440"/>
            <a:ext cx="292608" cy="292608"/>
          </a:xfrm>
          <a:prstGeom prst="ellipse">
            <a:avLst/>
          </a:prstGeom>
          <a:solidFill>
            <a:srgbClr val="4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833104" y="1563624"/>
            <a:ext cx="996696" cy="585216"/>
          </a:xfrm>
          <a:prstGeom prst="line">
            <a:avLst/>
          </a:prstGeom>
          <a:ln w="19050">
            <a:solidFill>
              <a:srgbClr val="445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098280" y="2148840"/>
            <a:ext cx="731520" cy="1097280"/>
          </a:xfrm>
          <a:prstGeom prst="line">
            <a:avLst/>
          </a:prstGeom>
          <a:ln w="19050">
            <a:solidFill>
              <a:srgbClr val="445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098280" y="3246120"/>
            <a:ext cx="1325880" cy="640080"/>
          </a:xfrm>
          <a:prstGeom prst="line">
            <a:avLst/>
          </a:prstGeom>
          <a:ln w="19050">
            <a:solidFill>
              <a:srgbClr val="445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074152" y="3246120"/>
            <a:ext cx="1024128" cy="1033272"/>
          </a:xfrm>
          <a:prstGeom prst="line">
            <a:avLst/>
          </a:prstGeom>
          <a:ln w="19050">
            <a:solidFill>
              <a:srgbClr val="445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829800" y="1380744"/>
            <a:ext cx="740664" cy="768096"/>
          </a:xfrm>
          <a:prstGeom prst="line">
            <a:avLst/>
          </a:prstGeom>
          <a:ln w="19050">
            <a:solidFill>
              <a:srgbClr val="445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1051560"/>
            <a:ext cx="5120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100" b="1">
                <a:solidFill>
                  <a:srgbClr val="5D9BFF"/>
                </a:solidFill>
                <a:latin typeface="Aptos"/>
              </a:rPr>
              <a:t>PROJECT REVIEW SERIES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600200"/>
            <a:ext cx="685800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200" b="1">
                <a:solidFill>
                  <a:srgbClr val="EEF4FF"/>
                </a:solidFill>
                <a:latin typeface="Aptos"/>
              </a:rPr>
              <a:t>COMMUNITY DETECTION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154680"/>
            <a:ext cx="66751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000" b="1">
                <a:solidFill>
                  <a:srgbClr val="9B7CFF"/>
                </a:solidFill>
                <a:latin typeface="Aptos"/>
              </a:rPr>
              <a:t>Review 1 — Problem Definition &amp; System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977639"/>
            <a:ext cx="64922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A5B4CC"/>
                </a:solidFill>
                <a:latin typeface="Aptos"/>
              </a:rPr>
              <a:t>Network analysis • Graph visualization • Community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897880"/>
            <a:ext cx="6217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1">
                <a:solidFill>
                  <a:srgbClr val="45D6A1"/>
                </a:solidFill>
                <a:latin typeface="Aptos"/>
              </a:rPr>
              <a:t>DSA-3  |  Team 20  |  A.Y. 2026–2027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37960"/>
            <a:ext cx="9601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1">
                <a:solidFill>
                  <a:srgbClr val="A5B4CC"/>
                </a:solidFill>
                <a:latin typeface="Aptos"/>
              </a:rPr>
              <a:t>COMMUNITY DETECTION PLATFORM  •  REVIEW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000" b="1">
                <a:solidFill>
                  <a:srgbClr val="5D9BF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5D9BFF"/>
                </a:solidFill>
                <a:latin typeface="Aptos"/>
              </a:rPr>
              <a:t>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700" b="1">
                <a:solidFill>
                  <a:srgbClr val="EEF4FF"/>
                </a:solidFill>
                <a:latin typeface="Aptos"/>
              </a:rP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868680" cy="45720"/>
          </a:xfrm>
          <a:prstGeom prst="rect">
            <a:avLst/>
          </a:prstGeom>
          <a:solidFill>
            <a:srgbClr val="9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A web-based dashboard designed to explore network interactions and discover meaningful communities.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The interface combines content signals with graph structure to present detected groups.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10927080" cy="868680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10424160" cy="73151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>
                <a:solidFill>
                  <a:srgbClr val="EEF4FF"/>
                </a:solidFill>
                <a:latin typeface="Aptos"/>
              </a:defRPr>
            </a:pPr>
            <a:r>
              <a:t>•  Target use cases include social networks, collaboration networks, communication analysis, moderation, marketing, and research collaboration.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37960"/>
            <a:ext cx="9601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1">
                <a:solidFill>
                  <a:srgbClr val="A5B4CC"/>
                </a:solidFill>
                <a:latin typeface="Aptos"/>
              </a:rPr>
              <a:t>COMMUNITY DETECTION PLATFORM  •  REVIEW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000" b="1">
                <a:solidFill>
                  <a:srgbClr val="5D9BFF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5D9BFF"/>
                </a:solidFill>
                <a:latin typeface="Aptos"/>
              </a:rPr>
              <a:t>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700" b="1">
                <a:solidFill>
                  <a:srgbClr val="EEF4FF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868680" cy="45720"/>
          </a:xfrm>
          <a:prstGeom prst="rect">
            <a:avLst/>
          </a:prstGeom>
          <a:solidFill>
            <a:srgbClr val="9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Network data can contain many nodes and interactions, making meaningful groups difficult to inspect manually.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Objective: organize network data into communities and present the results through an interactive dashboard.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Provide summary statistics, community exploration, network visualization, quality metrics, and export-oriented actions.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37960"/>
            <a:ext cx="9601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1">
                <a:solidFill>
                  <a:srgbClr val="A5B4CC"/>
                </a:solidFill>
                <a:latin typeface="Aptos"/>
              </a:rPr>
              <a:t>COMMUNITY DETECTION PLATFORM  •  REVIEW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000" b="1">
                <a:solidFill>
                  <a:srgbClr val="5D9BFF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5D9BFF"/>
                </a:solidFill>
                <a:latin typeface="Aptos"/>
              </a:rPr>
              <a:t>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700" b="1">
                <a:solidFill>
                  <a:srgbClr val="EEF4FF"/>
                </a:solidFill>
                <a:latin typeface="Aptos"/>
              </a:rPr>
              <a:t>Proposed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868680" cy="45720"/>
          </a:xfrm>
          <a:prstGeom prst="rect">
            <a:avLst/>
          </a:prstGeom>
          <a:solidFill>
            <a:srgbClr val="9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Data input: CSV files containing node IDs, links/interactions, and optional text content.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Content processing: content similarity is represented using a TF-IDF step in the interface pipeline.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Graph construction: create a weighted network from nodes and interactions.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4340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Community detection: the displayed pipeline names the Louvain method.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30352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Presentation: dashboard, graph, community table, metrics, and results pages.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9601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1">
                <a:solidFill>
                  <a:srgbClr val="A5B4CC"/>
                </a:solidFill>
                <a:latin typeface="Aptos"/>
              </a:rPr>
              <a:t>COMMUNITY DETECTION PLATFORM  •  REVIEW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000" b="1">
                <a:solidFill>
                  <a:srgbClr val="5D9BFF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5D9BFF"/>
                </a:solidFill>
                <a:latin typeface="Aptos"/>
              </a:rPr>
              <a:t>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700" b="1">
                <a:solidFill>
                  <a:srgbClr val="EEF4FF"/>
                </a:solidFill>
                <a:latin typeface="Aptos"/>
              </a:rPr>
              <a:t>Functional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868680" cy="45720"/>
          </a:xfrm>
          <a:prstGeom prst="rect">
            <a:avLst/>
          </a:prstGeom>
          <a:solidFill>
            <a:srgbClr val="9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Upload a CSV dataset or run the built-in demo 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Show node, interaction, community, and partition-quality summaries.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Explore communities and inspect individual nodes.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4340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Search nodes, filter graph nodes by community, and reset the graph 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30352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Display quality measures such as modularity, density, conductance, and similarity.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9601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1">
                <a:solidFill>
                  <a:srgbClr val="A5B4CC"/>
                </a:solidFill>
                <a:latin typeface="Aptos"/>
              </a:rPr>
              <a:t>COMMUNITY DETECTION PLATFORM  •  REVIEW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000" b="1">
                <a:solidFill>
                  <a:srgbClr val="5D9BFF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5D9BFF"/>
                </a:solidFill>
                <a:latin typeface="Aptos"/>
              </a:rPr>
              <a:t>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700" b="1">
                <a:solidFill>
                  <a:srgbClr val="EEF4FF"/>
                </a:solidFill>
                <a:latin typeface="Aptos"/>
              </a:rPr>
              <a:t>Review 1 Summary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868680" cy="45720"/>
          </a:xfrm>
          <a:prstGeom prst="rect">
            <a:avLst/>
          </a:prstGeom>
          <a:solidFill>
            <a:srgbClr val="9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The submitted interface establishes the project scope and core dashboard navigation.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Main screens: Dashboard, Data Input, Communities, Quality Metrics, Network Graph, and Results.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10927080" cy="868680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10424160" cy="73151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>
                <a:solidFill>
                  <a:srgbClr val="EEF4FF"/>
                </a:solidFill>
                <a:latin typeface="Aptos"/>
              </a:defRPr>
            </a:pPr>
            <a:r>
              <a:t>•  Next: validate the dataset format, connect the pipeline to a genuine graph-analysis implementation, and test results against known examples.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37960"/>
            <a:ext cx="9601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1">
                <a:solidFill>
                  <a:srgbClr val="A5B4CC"/>
                </a:solidFill>
                <a:latin typeface="Aptos"/>
              </a:rPr>
              <a:t>COMMUNITY DETECTION PLATFORM  •  REVIEW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000" b="1">
                <a:solidFill>
                  <a:srgbClr val="5D9BFF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