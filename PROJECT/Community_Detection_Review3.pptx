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1325880"/>
            <a:ext cx="475488" cy="475488"/>
          </a:xfrm>
          <a:prstGeom prst="ellipse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2057400"/>
            <a:ext cx="365760" cy="365760"/>
          </a:xfrm>
          <a:prstGeom prst="ellipse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3063240"/>
            <a:ext cx="566928" cy="566928"/>
          </a:xfrm>
          <a:prstGeom prst="ellipse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3703320"/>
            <a:ext cx="438912" cy="438912"/>
          </a:xfrm>
          <a:prstGeom prst="ellipse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09560" y="4160520"/>
            <a:ext cx="329184" cy="329184"/>
          </a:xfrm>
          <a:prstGeom prst="ellipse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0" y="1234440"/>
            <a:ext cx="292608" cy="292608"/>
          </a:xfrm>
          <a:prstGeom prst="ellipse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1563624"/>
            <a:ext cx="996696" cy="585216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8280" y="2148840"/>
            <a:ext cx="731520" cy="1097280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98280" y="3246120"/>
            <a:ext cx="1325880" cy="640080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074152" y="3246120"/>
            <a:ext cx="1024128" cy="1033272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829800" y="1380744"/>
            <a:ext cx="740664" cy="768096"/>
          </a:xfrm>
          <a:prstGeom prst="line">
            <a:avLst/>
          </a:prstGeom>
          <a:ln w="19050">
            <a:solidFill>
              <a:srgbClr val="445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105156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100" b="1">
                <a:solidFill>
                  <a:srgbClr val="5D9BFF"/>
                </a:solidFill>
                <a:latin typeface="Aptos"/>
              </a:rPr>
              <a:t>PROJECT REVIEW 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00200"/>
            <a:ext cx="68580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3200" b="1">
                <a:solidFill>
                  <a:srgbClr val="EEF4FF"/>
                </a:solidFill>
                <a:latin typeface="Aptos"/>
              </a:rPr>
              <a:t>COMMUNITY DETECTION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154680"/>
            <a:ext cx="667512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000" b="1">
                <a:solidFill>
                  <a:srgbClr val="9B7CFF"/>
                </a:solidFill>
                <a:latin typeface="Aptos"/>
              </a:rPr>
              <a:t>Review 3 — Testing, Results &amp; 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977639"/>
            <a:ext cx="64922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400" b="0">
                <a:solidFill>
                  <a:srgbClr val="A5B4CC"/>
                </a:solidFill>
                <a:latin typeface="Aptos"/>
              </a:rPr>
              <a:t>Network analysis • Graph visualization • Community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897880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200" b="1">
                <a:solidFill>
                  <a:srgbClr val="45D6A1"/>
                </a:solidFill>
                <a:latin typeface="Aptos"/>
              </a:rPr>
              <a:t>DSA-3  |  Team 20  |  A.Y. 2026–2027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Current Demonstration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dashboard’s sample view displays 42 nodes, 86 interactions, and 5 communities.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Displayed quality values include modularity 0.78, density 0.31, conductance 0.18, and average similarity 0.84.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community table shows five groups with different member counts and internal/external link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These are sample/demo values in the supplied interface and should not be presented as experimentally validated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Testing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Functional tests: CSV selection, navigation, node search, community filters, node detail drawer, and reset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Data tests: empty file, missing node column, missing target column, duplicate IDs, malformed rows, and quoted CSV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Algorithm tests: compare detected communities with a small network whose expected groups are known.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Performance tests: measure rendering and processing as node and edge counts increase.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Usability tests: verify readability and navigation on desktop and smaller screens.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Limitations &amp;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current CSV handling uses simple comma splitting and is not robust for all CSV formats.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uploaded-file path updates summary counts but does not show a complete, verified Louvain computation.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Several graph details and node metrics are generated for visualization, so they should be treated as illustrative.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Export buttons currently display notifications rather than producing downloadable report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Integrate a tested graph-processing backend or a reliable in-browser graph library.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Calculate TF-IDF similarity, edge weights, community assignments, and quality metrics from actual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Add clear CSV schema guidance, validation messages, and downloadable sample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Support downloadable reports and export of community membership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30352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Improve scalability, accessibility, and test coverage.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D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029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1000" b="1">
                <a:solidFill>
                  <a:srgbClr val="5D9BFF"/>
                </a:solidFill>
                <a:latin typeface="Aptos"/>
              </a:rPr>
              <a:t>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2700" b="1">
                <a:solidFill>
                  <a:srgbClr val="EEF4FF"/>
                </a:solidFill>
                <a:latin typeface="Aptos"/>
              </a:rPr>
              <a:t>Conclusion &amp; Review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89888"/>
            <a:ext cx="868680" cy="45720"/>
          </a:xfrm>
          <a:prstGeom prst="rect">
            <a:avLst/>
          </a:prstGeom>
          <a:solidFill>
            <a:srgbClr val="9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platform provides a clear interactive prototype for community detection and network exploration.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It brings data input, graph visualization, community summaries, quality metrics, and results into one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7472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The next milestone is to replace demo behavior with validated computation and evidence-based evaluation.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10927080" cy="713232"/>
          </a:xfrm>
          <a:prstGeom prst="roundRect">
            <a:avLst/>
          </a:prstGeom>
          <a:solidFill>
            <a:srgbClr val="111B2D"/>
          </a:solidFill>
          <a:ln>
            <a:solidFill>
              <a:srgbClr val="263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424160" cy="5760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defRPr sz="1600">
                <a:solidFill>
                  <a:srgbClr val="EEF4FF"/>
                </a:solidFill>
                <a:latin typeface="Aptos"/>
              </a:defRPr>
            </a:pPr>
            <a:r>
              <a:t>•  Outcome: a stronger, testable platform for analyzing relationships and discovering network communities.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960120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r>
              <a:rPr sz="800" b="1">
                <a:solidFill>
                  <a:srgbClr val="A5B4CC"/>
                </a:solidFill>
                <a:latin typeface="Aptos"/>
              </a:rPr>
              <a:t>COMMUNITY DETECTION PLATFORM  •  REVIEW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1000" b="1">
                <a:solidFill>
                  <a:srgbClr val="5D9BF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