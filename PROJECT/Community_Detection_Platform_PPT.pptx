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IeAkCAVCq6Jia_kv9vEHgHaD2"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5"/>
    <p:sldId id="260" r:id="rId6"/>
    <p:sldId id="261" r:id="rId7"/>
    <p:sldId id="262" r:id="rId8"/>
    <p:sldId id="268" r:id="rId9"/>
    <p:sldId id="269"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SIeAkCAVCq6Jia_kv9vEHgHaD2"/><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1280160"/>
            <a:ext cx="292608" cy="292608"/>
          </a:xfrm>
          <a:prstGeom prst="ellipse">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789920" y="2011680"/>
            <a:ext cx="237744" cy="237744"/>
          </a:xfrm>
          <a:prstGeom prst="ellipse">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326880" y="2468880"/>
            <a:ext cx="256032" cy="256032"/>
          </a:xfrm>
          <a:prstGeom prst="ellipse">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064240" y="3291840"/>
            <a:ext cx="292608" cy="292608"/>
          </a:xfrm>
          <a:prstGeom prst="ellipse">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875520" y="3840480"/>
            <a:ext cx="219456" cy="219456"/>
          </a:xfrm>
          <a:prstGeom prst="ellipse">
            <a:avLst/>
          </a:prstGeom>
          <a:solidFill>
            <a:srgbClr val="D29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89920" y="4572000"/>
            <a:ext cx="256032" cy="256032"/>
          </a:xfrm>
          <a:prstGeom prst="ellipse">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961120" y="4663440"/>
            <a:ext cx="237744" cy="237744"/>
          </a:xfrm>
          <a:prstGeom prst="ellipse">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a:off x="10012680" y="1417320"/>
            <a:ext cx="914400" cy="731520"/>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9464040" y="1417320"/>
            <a:ext cx="548640" cy="1188720"/>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927080" y="2148840"/>
            <a:ext cx="274320" cy="1280160"/>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64040" y="2606040"/>
            <a:ext cx="1737360" cy="822960"/>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012680" y="3429000"/>
            <a:ext cx="1188720" cy="548639"/>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12680" y="3977639"/>
            <a:ext cx="914400" cy="731521"/>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9098280" y="3977639"/>
            <a:ext cx="914400" cy="822961"/>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1005840"/>
            <a:ext cx="7589520" cy="1463040"/>
          </a:xfrm>
          <a:prstGeom prst="rect">
            <a:avLst/>
          </a:prstGeom>
          <a:noFill/>
        </p:spPr>
        <p:txBody>
          <a:bodyPr wrap="none">
            <a:spAutoFit/>
          </a:bodyPr>
          <a:lstStyle/>
          <a:p>
            <a:pPr>
              <a:defRPr sz="4200" b="1">
                <a:solidFill>
                  <a:srgbClr val="192D4B"/>
                </a:solidFill>
                <a:latin typeface="Aptos Display"/>
              </a:defRPr>
            </a:pPr>
            <a:r>
              <a:t>Community-Detection</a:t>
            </a:r>
            <a:br/>
            <a:r>
              <a:t>Platform</a:t>
            </a:r>
          </a:p>
        </p:txBody>
      </p:sp>
      <p:sp>
        <p:nvSpPr>
          <p:cNvPr id="18" name="TextBox 17"/>
          <p:cNvSpPr txBox="1"/>
          <p:nvPr/>
        </p:nvSpPr>
        <p:spPr>
          <a:xfrm>
            <a:off x="731520" y="2697480"/>
            <a:ext cx="7132320" cy="822960"/>
          </a:xfrm>
          <a:prstGeom prst="rect">
            <a:avLst/>
          </a:prstGeom>
          <a:noFill/>
        </p:spPr>
        <p:txBody>
          <a:bodyPr wrap="none">
            <a:spAutoFit/>
          </a:bodyPr>
          <a:lstStyle/>
          <a:p>
            <a:pPr>
              <a:defRPr sz="2100">
                <a:solidFill>
                  <a:srgbClr val="282828"/>
                </a:solidFill>
              </a:defRPr>
            </a:pPr>
            <a:r>
              <a:t>Combining content signals with graph structure to discover meaningful communities</a:t>
            </a:r>
          </a:p>
        </p:txBody>
      </p:sp>
      <p:sp>
        <p:nvSpPr>
          <p:cNvPr id="19" name="TextBox 18"/>
          <p:cNvSpPr txBox="1"/>
          <p:nvPr/>
        </p:nvSpPr>
        <p:spPr>
          <a:xfrm>
            <a:off x="731520" y="3886200"/>
            <a:ext cx="7132320" cy="1463040"/>
          </a:xfrm>
          <a:prstGeom prst="rect">
            <a:avLst/>
          </a:prstGeom>
          <a:noFill/>
        </p:spPr>
        <p:txBody>
          <a:bodyPr wrap="none">
            <a:spAutoFit/>
          </a:bodyPr>
          <a:lstStyle/>
          <a:p>
            <a:pPr>
              <a:spcAft>
                <a:spcPts val="800"/>
              </a:spcAft>
              <a:defRPr sz="1600">
                <a:solidFill>
                  <a:srgbClr val="646464"/>
                </a:solidFill>
              </a:defRPr>
            </a:pPr>
            <a:r>
              <a:t>Data Structures and Algorithms - 3 (25CS2103E)</a:t>
            </a:r>
          </a:p>
          <a:p>
            <a:pPr>
              <a:spcAft>
                <a:spcPts val="800"/>
              </a:spcAft>
              <a:defRPr sz="1400">
                <a:solidFill>
                  <a:srgbClr val="646464"/>
                </a:solidFill>
              </a:defRPr>
            </a:pPr>
            <a:r>
              <a:t>A.Y. 2026–2027  |  Team No. 20  |  Section 13</a:t>
            </a:r>
          </a:p>
          <a:p>
            <a:pPr>
              <a:spcAft>
                <a:spcPts val="800"/>
              </a:spcAft>
              <a:defRPr sz="1400">
                <a:solidFill>
                  <a:srgbClr val="646464"/>
                </a:solidFill>
              </a:defRPr>
            </a:pPr>
            <a:r>
              <a:t>C. Srikar Reddy  •  G. Manideep Patel  •  R. Sai Charan Reddi</a:t>
            </a:r>
          </a:p>
          <a:p>
            <a:pPr>
              <a:spcAft>
                <a:spcPts val="800"/>
              </a:spcAft>
              <a:defRPr sz="1400">
                <a:solidFill>
                  <a:srgbClr val="646464"/>
                </a:solidFill>
              </a:defRPr>
            </a:pPr>
            <a:r>
              <a:t>Guide: Dr. Dyuti Banerjee, Assistant Professor, AIDS</a:t>
            </a:r>
          </a:p>
        </p:txBody>
      </p:sp>
      <p:pic>
        <p:nvPicPr>
          <p:cNvPr id="21" name="Picture 20">
            <a:extLst>
              <a:ext uri="{FF2B5EF4-FFF2-40B4-BE49-F238E27FC236}">
                <a16:creationId xmlns:a16="http://schemas.microsoft.com/office/drawing/2014/main" id="{2AA0E0F6-032C-6A49-1DAD-672024A8419F}"/>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Abstract</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1</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685800" y="1234440"/>
            <a:ext cx="10835640" cy="443484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234440"/>
            <a:ext cx="82296" cy="443484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399032"/>
            <a:ext cx="10469880" cy="384048"/>
          </a:xfrm>
          <a:prstGeom prst="rect">
            <a:avLst/>
          </a:prstGeom>
          <a:noFill/>
        </p:spPr>
        <p:txBody>
          <a:bodyPr wrap="none">
            <a:spAutoFit/>
          </a:bodyPr>
          <a:lstStyle/>
          <a:p>
            <a:pPr>
              <a:defRPr sz="1800" b="1">
                <a:solidFill>
                  <a:srgbClr val="192D4B"/>
                </a:solidFill>
              </a:defRPr>
            </a:pPr>
            <a:r>
              <a:t>Project Overview</a:t>
            </a:r>
          </a:p>
        </p:txBody>
      </p:sp>
      <p:sp>
        <p:nvSpPr>
          <p:cNvPr id="10" name="TextBox 9"/>
          <p:cNvSpPr txBox="1"/>
          <p:nvPr/>
        </p:nvSpPr>
        <p:spPr>
          <a:xfrm>
            <a:off x="886968" y="1874519"/>
            <a:ext cx="10451592" cy="3657599"/>
          </a:xfrm>
          <a:prstGeom prst="rect">
            <a:avLst/>
          </a:prstGeom>
          <a:noFill/>
        </p:spPr>
        <p:txBody>
          <a:bodyPr wrap="square">
            <a:spAutoFit/>
          </a:bodyPr>
          <a:lstStyle/>
          <a:p>
            <a:pPr>
              <a:defRPr sz="1400">
                <a:solidFill>
                  <a:srgbClr val="282828"/>
                </a:solidFill>
              </a:defRPr>
            </a:pPr>
            <a:r>
              <a:t>The Community-Detection Platform is a web-based system for identifying and analyzing communities in social, collaboration, and communication networks. It combines content information with graph connections to create a weighted interaction graph. Text and interaction data are processed to assign weights using connection strength and content similarity. Community detection techniques group closely related nodes, while an interactive dashboard reports modularity, density, conductance, community sizes, and partition results. The platform is intended for efficient analysis of large graphs and can support social-media moderation, marketing analysis, research collaboration, and communication analysis.</a:t>
            </a:r>
          </a:p>
        </p:txBody>
      </p:sp>
      <p:sp>
        <p:nvSpPr>
          <p:cNvPr id="11" name="Rounded Rectangle 10"/>
          <p:cNvSpPr/>
          <p:nvPr/>
        </p:nvSpPr>
        <p:spPr>
          <a:xfrm>
            <a:off x="868680" y="5806440"/>
            <a:ext cx="2331720" cy="411480"/>
          </a:xfrm>
          <a:prstGeom prst="round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Content signals</a:t>
            </a:r>
          </a:p>
        </p:txBody>
      </p:sp>
      <p:sp>
        <p:nvSpPr>
          <p:cNvPr id="12" name="Rounded Rectangle 11"/>
          <p:cNvSpPr/>
          <p:nvPr/>
        </p:nvSpPr>
        <p:spPr>
          <a:xfrm>
            <a:off x="3520439" y="5806440"/>
            <a:ext cx="2331720" cy="411480"/>
          </a:xfrm>
          <a:prstGeom prst="round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Graph connections</a:t>
            </a:r>
          </a:p>
        </p:txBody>
      </p:sp>
      <p:sp>
        <p:nvSpPr>
          <p:cNvPr id="13" name="Rounded Rectangle 12"/>
          <p:cNvSpPr/>
          <p:nvPr/>
        </p:nvSpPr>
        <p:spPr>
          <a:xfrm>
            <a:off x="6172200" y="5806440"/>
            <a:ext cx="2331720" cy="411480"/>
          </a:xfrm>
          <a:prstGeom prst="roundRect">
            <a:avLst/>
          </a:prstGeom>
          <a:solidFill>
            <a:srgbClr val="D29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Weighted graph</a:t>
            </a:r>
          </a:p>
        </p:txBody>
      </p:sp>
      <p:sp>
        <p:nvSpPr>
          <p:cNvPr id="14" name="Rounded Rectangle 13"/>
          <p:cNvSpPr/>
          <p:nvPr/>
        </p:nvSpPr>
        <p:spPr>
          <a:xfrm>
            <a:off x="8823959" y="5806440"/>
            <a:ext cx="2331720" cy="411480"/>
          </a:xfrm>
          <a:prstGeom prst="round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Community quality</a:t>
            </a:r>
          </a:p>
        </p:txBody>
      </p:sp>
      <p:pic>
        <p:nvPicPr>
          <p:cNvPr id="16" name="Picture 15">
            <a:extLst>
              <a:ext uri="{FF2B5EF4-FFF2-40B4-BE49-F238E27FC236}">
                <a16:creationId xmlns:a16="http://schemas.microsoft.com/office/drawing/2014/main" id="{B848CCEA-2040-206D-A2CA-ADEB266FC71B}"/>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Introduction</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2</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640080" y="1143000"/>
            <a:ext cx="5349240" cy="20116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82296" cy="2011680"/>
          </a:xfrm>
          <a:prstGeom prst="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307592"/>
            <a:ext cx="4983479" cy="384048"/>
          </a:xfrm>
          <a:prstGeom prst="rect">
            <a:avLst/>
          </a:prstGeom>
          <a:noFill/>
        </p:spPr>
        <p:txBody>
          <a:bodyPr wrap="none">
            <a:spAutoFit/>
          </a:bodyPr>
          <a:lstStyle/>
          <a:p>
            <a:pPr>
              <a:defRPr sz="1800" b="1">
                <a:solidFill>
                  <a:srgbClr val="192D4B"/>
                </a:solidFill>
              </a:defRPr>
            </a:pPr>
            <a:r>
              <a:t>Background</a:t>
            </a:r>
          </a:p>
        </p:txBody>
      </p:sp>
      <p:sp>
        <p:nvSpPr>
          <p:cNvPr id="10" name="TextBox 9"/>
          <p:cNvSpPr txBox="1"/>
          <p:nvPr/>
        </p:nvSpPr>
        <p:spPr>
          <a:xfrm>
            <a:off x="841247" y="1783080"/>
            <a:ext cx="4965192" cy="1234440"/>
          </a:xfrm>
          <a:prstGeom prst="rect">
            <a:avLst/>
          </a:prstGeom>
          <a:noFill/>
        </p:spPr>
        <p:txBody>
          <a:bodyPr wrap="square">
            <a:spAutoFit/>
          </a:bodyPr>
          <a:lstStyle/>
          <a:p>
            <a:pPr>
              <a:defRPr sz="1400">
                <a:solidFill>
                  <a:srgbClr val="282828"/>
                </a:solidFill>
              </a:defRPr>
            </a:pPr>
            <a:r>
              <a:t>Social and collaboration networks contain both structural relationships and rich textual content. Understanding their community structure helps reveal how users, entities, or groups interact.</a:t>
            </a:r>
          </a:p>
        </p:txBody>
      </p:sp>
      <p:sp>
        <p:nvSpPr>
          <p:cNvPr id="11" name="Rounded Rectangle 10"/>
          <p:cNvSpPr/>
          <p:nvPr/>
        </p:nvSpPr>
        <p:spPr>
          <a:xfrm>
            <a:off x="640080" y="3429000"/>
            <a:ext cx="5349240" cy="20116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3429000"/>
            <a:ext cx="82296" cy="201168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7" y="3593592"/>
            <a:ext cx="4983479" cy="384048"/>
          </a:xfrm>
          <a:prstGeom prst="rect">
            <a:avLst/>
          </a:prstGeom>
          <a:noFill/>
        </p:spPr>
        <p:txBody>
          <a:bodyPr wrap="none">
            <a:spAutoFit/>
          </a:bodyPr>
          <a:lstStyle/>
          <a:p>
            <a:pPr>
              <a:defRPr sz="1800" b="1">
                <a:solidFill>
                  <a:srgbClr val="192D4B"/>
                </a:solidFill>
              </a:defRPr>
            </a:pPr>
            <a:r>
              <a:t>Why Community Detection?</a:t>
            </a:r>
          </a:p>
        </p:txBody>
      </p:sp>
      <p:sp>
        <p:nvSpPr>
          <p:cNvPr id="14" name="TextBox 13"/>
          <p:cNvSpPr txBox="1"/>
          <p:nvPr/>
        </p:nvSpPr>
        <p:spPr>
          <a:xfrm>
            <a:off x="841247" y="4069080"/>
            <a:ext cx="4965192" cy="1234440"/>
          </a:xfrm>
          <a:prstGeom prst="rect">
            <a:avLst/>
          </a:prstGeom>
          <a:noFill/>
        </p:spPr>
        <p:txBody>
          <a:bodyPr wrap="square">
            <a:spAutoFit/>
          </a:bodyPr>
          <a:lstStyle/>
          <a:p>
            <a:pPr>
              <a:defRPr sz="1400">
                <a:solidFill>
                  <a:srgbClr val="282828"/>
                </a:solidFill>
              </a:defRPr>
            </a:pPr>
            <a:r>
              <a:t>Communities are groups of nodes with stronger internal relationships. Detecting them supports moderation, marketing, research collaboration, and communication analysis.</a:t>
            </a:r>
          </a:p>
        </p:txBody>
      </p:sp>
      <p:sp>
        <p:nvSpPr>
          <p:cNvPr id="15" name="Rounded Rectangle 14"/>
          <p:cNvSpPr/>
          <p:nvPr/>
        </p:nvSpPr>
        <p:spPr>
          <a:xfrm>
            <a:off x="6263640" y="1143000"/>
            <a:ext cx="5349240" cy="42976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143000"/>
            <a:ext cx="82296" cy="429768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7" y="1307592"/>
            <a:ext cx="4983479" cy="384048"/>
          </a:xfrm>
          <a:prstGeom prst="rect">
            <a:avLst/>
          </a:prstGeom>
          <a:noFill/>
        </p:spPr>
        <p:txBody>
          <a:bodyPr wrap="none">
            <a:spAutoFit/>
          </a:bodyPr>
          <a:lstStyle/>
          <a:p>
            <a:pPr>
              <a:defRPr sz="1800" b="1">
                <a:solidFill>
                  <a:srgbClr val="192D4B"/>
                </a:solidFill>
              </a:defRPr>
            </a:pPr>
            <a:r>
              <a:t>Proposed Approach</a:t>
            </a:r>
          </a:p>
        </p:txBody>
      </p:sp>
      <p:sp>
        <p:nvSpPr>
          <p:cNvPr id="18" name="TextBox 17"/>
          <p:cNvSpPr txBox="1"/>
          <p:nvPr/>
        </p:nvSpPr>
        <p:spPr>
          <a:xfrm>
            <a:off x="6464807" y="1783080"/>
            <a:ext cx="4965192" cy="3520440"/>
          </a:xfrm>
          <a:prstGeom prst="rect">
            <a:avLst/>
          </a:prstGeom>
          <a:noFill/>
        </p:spPr>
        <p:txBody>
          <a:bodyPr wrap="square">
            <a:spAutoFit/>
          </a:bodyPr>
          <a:lstStyle/>
          <a:p>
            <a:pPr>
              <a:defRPr sz="1400">
                <a:solidFill>
                  <a:srgbClr val="282828"/>
                </a:solidFill>
              </a:defRPr>
            </a:pPr>
            <a:r>
              <a:t>1. Collect node content and interaction/link data.</a:t>
            </a:r>
            <a:br/>
            <a:br/>
            <a:r>
              <a:t>2. Process text and measure content similarity.</a:t>
            </a:r>
            <a:br/>
            <a:br/>
            <a:r>
              <a:t>3. Combine interaction strength and content relevance into edge weights.</a:t>
            </a:r>
            <a:br/>
            <a:br/>
            <a:r>
              <a:t>4. Detect communities and evaluate the resulting partition.</a:t>
            </a:r>
            <a:br/>
            <a:br/>
            <a:r>
              <a:t>5. Present the network and metrics through an interactive dashboard.</a:t>
            </a:r>
          </a:p>
        </p:txBody>
      </p:sp>
      <p:pic>
        <p:nvPicPr>
          <p:cNvPr id="20" name="Picture 19">
            <a:extLst>
              <a:ext uri="{FF2B5EF4-FFF2-40B4-BE49-F238E27FC236}">
                <a16:creationId xmlns:a16="http://schemas.microsoft.com/office/drawing/2014/main" id="{874B26A8-7F0B-C327-1DB3-D7A3B0DFEF85}"/>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A82C-8A0C-70DB-F94C-94BED2876F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5EEE14-0E56-771B-0127-550F9FB04B94}"/>
              </a:ext>
            </a:extLst>
          </p:cNvPr>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2EE2D49-7B98-B624-C520-256E982B9452}"/>
              </a:ext>
            </a:extLst>
          </p:cNvPr>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B7E7E8E-DBF7-CF39-88F7-C9CC14A52854}"/>
              </a:ext>
            </a:extLst>
          </p:cNvPr>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Literature Survey</a:t>
            </a:r>
          </a:p>
        </p:txBody>
      </p:sp>
      <p:sp>
        <p:nvSpPr>
          <p:cNvPr id="5" name="TextBox 4">
            <a:extLst>
              <a:ext uri="{FF2B5EF4-FFF2-40B4-BE49-F238E27FC236}">
                <a16:creationId xmlns:a16="http://schemas.microsoft.com/office/drawing/2014/main" id="{515324AF-44A4-5198-9CA7-77D190267AC8}"/>
              </a:ext>
            </a:extLst>
          </p:cNvPr>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3</a:t>
            </a:r>
          </a:p>
        </p:txBody>
      </p:sp>
      <p:sp>
        <p:nvSpPr>
          <p:cNvPr id="6" name="TextBox 5">
            <a:extLst>
              <a:ext uri="{FF2B5EF4-FFF2-40B4-BE49-F238E27FC236}">
                <a16:creationId xmlns:a16="http://schemas.microsoft.com/office/drawing/2014/main" id="{7A393880-FB9A-2792-A977-DA22442F427C}"/>
              </a:ext>
            </a:extLst>
          </p:cNvPr>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a:extLst>
              <a:ext uri="{FF2B5EF4-FFF2-40B4-BE49-F238E27FC236}">
                <a16:creationId xmlns:a16="http://schemas.microsoft.com/office/drawing/2014/main" id="{4C7A5481-AAC0-C03F-429E-C0FBD8DB0023}"/>
              </a:ext>
            </a:extLst>
          </p:cNvPr>
          <p:cNvSpPr/>
          <p:nvPr/>
        </p:nvSpPr>
        <p:spPr>
          <a:xfrm>
            <a:off x="640080" y="1143000"/>
            <a:ext cx="3429000" cy="448056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2F324166-98A0-29CD-8555-1FC2EDD49391}"/>
              </a:ext>
            </a:extLst>
          </p:cNvPr>
          <p:cNvSpPr/>
          <p:nvPr/>
        </p:nvSpPr>
        <p:spPr>
          <a:xfrm>
            <a:off x="640080" y="1143000"/>
            <a:ext cx="82296" cy="4480560"/>
          </a:xfrm>
          <a:prstGeom prst="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739D572C-B1CE-E629-F126-076D6E1EA6FC}"/>
              </a:ext>
            </a:extLst>
          </p:cNvPr>
          <p:cNvSpPr txBox="1"/>
          <p:nvPr/>
        </p:nvSpPr>
        <p:spPr>
          <a:xfrm>
            <a:off x="841246" y="1307592"/>
            <a:ext cx="3227833" cy="338554"/>
          </a:xfrm>
          <a:prstGeom prst="rect">
            <a:avLst/>
          </a:prstGeom>
          <a:noFill/>
        </p:spPr>
        <p:txBody>
          <a:bodyPr wrap="square">
            <a:spAutoFit/>
          </a:bodyPr>
          <a:lstStyle/>
          <a:p>
            <a:pPr>
              <a:defRPr sz="1800" b="1">
                <a:solidFill>
                  <a:srgbClr val="192D4B"/>
                </a:solidFill>
              </a:defRPr>
            </a:pPr>
            <a:r>
              <a:rPr sz="1600" dirty="0"/>
              <a:t>Graph-Based Community </a:t>
            </a:r>
            <a:r>
              <a:rPr lang="en-US" sz="1600" dirty="0"/>
              <a:t>Detection</a:t>
            </a:r>
            <a:endParaRPr sz="1600" dirty="0"/>
          </a:p>
        </p:txBody>
      </p:sp>
      <p:sp>
        <p:nvSpPr>
          <p:cNvPr id="10" name="TextBox 9">
            <a:extLst>
              <a:ext uri="{FF2B5EF4-FFF2-40B4-BE49-F238E27FC236}">
                <a16:creationId xmlns:a16="http://schemas.microsoft.com/office/drawing/2014/main" id="{3C27A6AE-948A-A2C0-D0F5-19675E9F2F82}"/>
              </a:ext>
            </a:extLst>
          </p:cNvPr>
          <p:cNvSpPr txBox="1"/>
          <p:nvPr/>
        </p:nvSpPr>
        <p:spPr>
          <a:xfrm>
            <a:off x="841247" y="1783080"/>
            <a:ext cx="3044952" cy="3703320"/>
          </a:xfrm>
          <a:prstGeom prst="rect">
            <a:avLst/>
          </a:prstGeom>
          <a:noFill/>
        </p:spPr>
        <p:txBody>
          <a:bodyPr wrap="square">
            <a:spAutoFit/>
          </a:bodyPr>
          <a:lstStyle/>
          <a:p>
            <a:pPr>
              <a:defRPr sz="1400">
                <a:solidFill>
                  <a:srgbClr val="282828"/>
                </a:solidFill>
              </a:defRPr>
            </a:pPr>
            <a:r>
              <a:t>Traditional methods identify groups primarily from network structure. Modularity-based approaches are widely used because they compare the strength of within-community connections against between-community connections.</a:t>
            </a:r>
          </a:p>
        </p:txBody>
      </p:sp>
      <p:sp>
        <p:nvSpPr>
          <p:cNvPr id="11" name="Rounded Rectangle 10">
            <a:extLst>
              <a:ext uri="{FF2B5EF4-FFF2-40B4-BE49-F238E27FC236}">
                <a16:creationId xmlns:a16="http://schemas.microsoft.com/office/drawing/2014/main" id="{E36E85E8-9D97-164E-6883-A0E44B33FE2C}"/>
              </a:ext>
            </a:extLst>
          </p:cNvPr>
          <p:cNvSpPr/>
          <p:nvPr/>
        </p:nvSpPr>
        <p:spPr>
          <a:xfrm>
            <a:off x="4389120" y="1143000"/>
            <a:ext cx="3429000" cy="448056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7379B8E5-E56B-2CC8-651A-56ECBE3BC418}"/>
              </a:ext>
            </a:extLst>
          </p:cNvPr>
          <p:cNvSpPr/>
          <p:nvPr/>
        </p:nvSpPr>
        <p:spPr>
          <a:xfrm>
            <a:off x="4389120" y="1143000"/>
            <a:ext cx="82296" cy="448056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A796E602-1B03-1C93-19A3-D09220B3FADD}"/>
              </a:ext>
            </a:extLst>
          </p:cNvPr>
          <p:cNvSpPr txBox="1"/>
          <p:nvPr/>
        </p:nvSpPr>
        <p:spPr>
          <a:xfrm>
            <a:off x="4590288" y="1307592"/>
            <a:ext cx="3063240" cy="384048"/>
          </a:xfrm>
          <a:prstGeom prst="rect">
            <a:avLst/>
          </a:prstGeom>
          <a:noFill/>
        </p:spPr>
        <p:txBody>
          <a:bodyPr wrap="none">
            <a:spAutoFit/>
          </a:bodyPr>
          <a:lstStyle/>
          <a:p>
            <a:pPr>
              <a:defRPr sz="1800" b="1">
                <a:solidFill>
                  <a:srgbClr val="192D4B"/>
                </a:solidFill>
              </a:defRPr>
            </a:pPr>
            <a:r>
              <a:t>Content-Aware Analysis</a:t>
            </a:r>
          </a:p>
        </p:txBody>
      </p:sp>
      <p:sp>
        <p:nvSpPr>
          <p:cNvPr id="14" name="TextBox 13">
            <a:extLst>
              <a:ext uri="{FF2B5EF4-FFF2-40B4-BE49-F238E27FC236}">
                <a16:creationId xmlns:a16="http://schemas.microsoft.com/office/drawing/2014/main" id="{1C073233-7DD1-1C57-AB20-AFE95BCCE2AA}"/>
              </a:ext>
            </a:extLst>
          </p:cNvPr>
          <p:cNvSpPr txBox="1"/>
          <p:nvPr/>
        </p:nvSpPr>
        <p:spPr>
          <a:xfrm>
            <a:off x="4590288" y="1783080"/>
            <a:ext cx="3044952" cy="3703320"/>
          </a:xfrm>
          <a:prstGeom prst="rect">
            <a:avLst/>
          </a:prstGeom>
          <a:noFill/>
        </p:spPr>
        <p:txBody>
          <a:bodyPr wrap="square">
            <a:spAutoFit/>
          </a:bodyPr>
          <a:lstStyle/>
          <a:p>
            <a:pPr>
              <a:defRPr sz="1400">
                <a:solidFill>
                  <a:srgbClr val="282828"/>
                </a:solidFill>
              </a:defRPr>
            </a:pPr>
            <a:r>
              <a:t>Text associated with nodes can provide additional evidence about similarity. TF-IDF or embedding-based representations can be used to estimate content similarity between connected entities.</a:t>
            </a:r>
          </a:p>
        </p:txBody>
      </p:sp>
      <p:sp>
        <p:nvSpPr>
          <p:cNvPr id="15" name="Rounded Rectangle 14">
            <a:extLst>
              <a:ext uri="{FF2B5EF4-FFF2-40B4-BE49-F238E27FC236}">
                <a16:creationId xmlns:a16="http://schemas.microsoft.com/office/drawing/2014/main" id="{0CE1F619-E812-1FC5-7A92-8D2D0736EE4A}"/>
              </a:ext>
            </a:extLst>
          </p:cNvPr>
          <p:cNvSpPr/>
          <p:nvPr/>
        </p:nvSpPr>
        <p:spPr>
          <a:xfrm>
            <a:off x="8138160" y="1143000"/>
            <a:ext cx="3429000" cy="448056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D846AB9-CD8F-44E5-A690-5E5134FEA8BD}"/>
              </a:ext>
            </a:extLst>
          </p:cNvPr>
          <p:cNvSpPr/>
          <p:nvPr/>
        </p:nvSpPr>
        <p:spPr>
          <a:xfrm>
            <a:off x="8138160" y="1143000"/>
            <a:ext cx="82296" cy="448056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8CC47BD9-6D59-2681-39C1-4C98E30A2338}"/>
              </a:ext>
            </a:extLst>
          </p:cNvPr>
          <p:cNvSpPr txBox="1"/>
          <p:nvPr/>
        </p:nvSpPr>
        <p:spPr>
          <a:xfrm>
            <a:off x="8339328" y="1307592"/>
            <a:ext cx="3063240" cy="384048"/>
          </a:xfrm>
          <a:prstGeom prst="rect">
            <a:avLst/>
          </a:prstGeom>
          <a:noFill/>
        </p:spPr>
        <p:txBody>
          <a:bodyPr wrap="none">
            <a:spAutoFit/>
          </a:bodyPr>
          <a:lstStyle/>
          <a:p>
            <a:pPr>
              <a:defRPr sz="1800" b="1">
                <a:solidFill>
                  <a:srgbClr val="192D4B"/>
                </a:solidFill>
              </a:defRPr>
            </a:pPr>
            <a:r>
              <a:t>Proposed Integration</a:t>
            </a:r>
          </a:p>
        </p:txBody>
      </p:sp>
      <p:sp>
        <p:nvSpPr>
          <p:cNvPr id="18" name="TextBox 17">
            <a:extLst>
              <a:ext uri="{FF2B5EF4-FFF2-40B4-BE49-F238E27FC236}">
                <a16:creationId xmlns:a16="http://schemas.microsoft.com/office/drawing/2014/main" id="{708A412F-9B77-DC66-DC4D-A5DF6565EA6B}"/>
              </a:ext>
            </a:extLst>
          </p:cNvPr>
          <p:cNvSpPr txBox="1"/>
          <p:nvPr/>
        </p:nvSpPr>
        <p:spPr>
          <a:xfrm>
            <a:off x="8339328" y="1783080"/>
            <a:ext cx="3044952" cy="3703320"/>
          </a:xfrm>
          <a:prstGeom prst="rect">
            <a:avLst/>
          </a:prstGeom>
          <a:noFill/>
        </p:spPr>
        <p:txBody>
          <a:bodyPr wrap="square">
            <a:spAutoFit/>
          </a:bodyPr>
          <a:lstStyle/>
          <a:p>
            <a:pPr>
              <a:defRPr sz="1400">
                <a:solidFill>
                  <a:srgbClr val="282828"/>
                </a:solidFill>
              </a:defRPr>
            </a:pPr>
            <a:r>
              <a:t>This project combines content signals and graph links in a weighted interaction graph. The goal is to produce communities that reflect both structural relationships and shared content.</a:t>
            </a:r>
          </a:p>
        </p:txBody>
      </p:sp>
      <p:sp>
        <p:nvSpPr>
          <p:cNvPr id="19" name="TextBox 18">
            <a:extLst>
              <a:ext uri="{FF2B5EF4-FFF2-40B4-BE49-F238E27FC236}">
                <a16:creationId xmlns:a16="http://schemas.microsoft.com/office/drawing/2014/main" id="{8BC49FFC-07E2-9812-1E26-BAB03AC866B1}"/>
              </a:ext>
            </a:extLst>
          </p:cNvPr>
          <p:cNvSpPr txBox="1"/>
          <p:nvPr/>
        </p:nvSpPr>
        <p:spPr>
          <a:xfrm>
            <a:off x="731520" y="5806440"/>
            <a:ext cx="10789920" cy="365760"/>
          </a:xfrm>
          <a:prstGeom prst="rect">
            <a:avLst/>
          </a:prstGeom>
          <a:noFill/>
        </p:spPr>
        <p:txBody>
          <a:bodyPr wrap="none">
            <a:spAutoFit/>
          </a:bodyPr>
          <a:lstStyle/>
          <a:p>
            <a:pPr>
              <a:defRPr sz="1400" i="1">
                <a:solidFill>
                  <a:srgbClr val="646464"/>
                </a:solidFill>
              </a:defRPr>
            </a:pPr>
            <a:r>
              <a:t>Literature focus for this project: structural communities + content similarity + scalable graph analysis.</a:t>
            </a:r>
          </a:p>
        </p:txBody>
      </p:sp>
      <p:pic>
        <p:nvPicPr>
          <p:cNvPr id="21" name="Picture 20">
            <a:extLst>
              <a:ext uri="{FF2B5EF4-FFF2-40B4-BE49-F238E27FC236}">
                <a16:creationId xmlns:a16="http://schemas.microsoft.com/office/drawing/2014/main" id="{6EE63FE3-F5B1-CB13-3446-DDB7344178FB}"/>
              </a:ext>
            </a:extLst>
          </p:cNvPr>
          <p:cNvPicPr>
            <a:picLocks noChangeAspect="1"/>
          </p:cNvPicPr>
          <p:nvPr/>
        </p:nvPicPr>
        <p:blipFill>
          <a:blip r:embed="rId2"/>
          <a:stretch>
            <a:fillRect/>
          </a:stretch>
        </p:blipFill>
        <p:spPr>
          <a:xfrm>
            <a:off x="9800492" y="1"/>
            <a:ext cx="2391508" cy="1070708"/>
          </a:xfrm>
          <a:prstGeom prst="rect">
            <a:avLst/>
          </a:prstGeom>
        </p:spPr>
      </p:pic>
    </p:spTree>
    <p:extLst>
      <p:ext uri="{BB962C8B-B14F-4D97-AF65-F5344CB8AC3E}">
        <p14:creationId xmlns:p14="http://schemas.microsoft.com/office/powerpoint/2010/main" val="3719769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Problem Statement and Objectives</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4</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640080" y="1143000"/>
            <a:ext cx="5212080" cy="45262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82296" cy="452628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307592"/>
            <a:ext cx="4846320" cy="384048"/>
          </a:xfrm>
          <a:prstGeom prst="rect">
            <a:avLst/>
          </a:prstGeom>
          <a:noFill/>
        </p:spPr>
        <p:txBody>
          <a:bodyPr wrap="none">
            <a:spAutoFit/>
          </a:bodyPr>
          <a:lstStyle/>
          <a:p>
            <a:pPr>
              <a:defRPr sz="1800" b="1">
                <a:solidFill>
                  <a:srgbClr val="192D4B"/>
                </a:solidFill>
              </a:defRPr>
            </a:pPr>
            <a:r>
              <a:t>Problem Statement</a:t>
            </a:r>
          </a:p>
        </p:txBody>
      </p:sp>
      <p:sp>
        <p:nvSpPr>
          <p:cNvPr id="10" name="TextBox 9"/>
          <p:cNvSpPr txBox="1"/>
          <p:nvPr/>
        </p:nvSpPr>
        <p:spPr>
          <a:xfrm>
            <a:off x="841247" y="1783080"/>
            <a:ext cx="4828032" cy="3749040"/>
          </a:xfrm>
          <a:prstGeom prst="rect">
            <a:avLst/>
          </a:prstGeom>
          <a:noFill/>
        </p:spPr>
        <p:txBody>
          <a:bodyPr wrap="square">
            <a:spAutoFit/>
          </a:bodyPr>
          <a:lstStyle/>
          <a:p>
            <a:pPr>
              <a:defRPr sz="1400">
                <a:solidFill>
                  <a:srgbClr val="282828"/>
                </a:solidFill>
              </a:defRPr>
            </a:pPr>
            <a:r>
              <a:t>Graph-only community detection may miss information contained in what connected nodes say. A useful platform must therefore integrate content signals with graph structure and provide interpretable quality measures while remaining practical for large graphs.</a:t>
            </a:r>
          </a:p>
        </p:txBody>
      </p:sp>
      <p:sp>
        <p:nvSpPr>
          <p:cNvPr id="11" name="Rounded Rectangle 10"/>
          <p:cNvSpPr/>
          <p:nvPr/>
        </p:nvSpPr>
        <p:spPr>
          <a:xfrm>
            <a:off x="6080760" y="1143000"/>
            <a:ext cx="5440680" cy="45262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80760" y="1143000"/>
            <a:ext cx="82296" cy="452628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81928" y="1307592"/>
            <a:ext cx="5074920" cy="384048"/>
          </a:xfrm>
          <a:prstGeom prst="rect">
            <a:avLst/>
          </a:prstGeom>
          <a:noFill/>
        </p:spPr>
        <p:txBody>
          <a:bodyPr wrap="none">
            <a:spAutoFit/>
          </a:bodyPr>
          <a:lstStyle/>
          <a:p>
            <a:pPr>
              <a:defRPr sz="1800" b="1">
                <a:solidFill>
                  <a:srgbClr val="192D4B"/>
                </a:solidFill>
              </a:defRPr>
            </a:pPr>
            <a:r>
              <a:t>Objectives</a:t>
            </a:r>
          </a:p>
        </p:txBody>
      </p:sp>
      <p:sp>
        <p:nvSpPr>
          <p:cNvPr id="14" name="TextBox 13"/>
          <p:cNvSpPr txBox="1"/>
          <p:nvPr/>
        </p:nvSpPr>
        <p:spPr>
          <a:xfrm>
            <a:off x="6281928" y="1783080"/>
            <a:ext cx="5056632" cy="3749040"/>
          </a:xfrm>
          <a:prstGeom prst="rect">
            <a:avLst/>
          </a:prstGeom>
          <a:noFill/>
        </p:spPr>
        <p:txBody>
          <a:bodyPr wrap="square">
            <a:spAutoFit/>
          </a:bodyPr>
          <a:lstStyle/>
          <a:p>
            <a:pPr>
              <a:defRPr sz="1400">
                <a:solidFill>
                  <a:srgbClr val="282828"/>
                </a:solidFill>
              </a:defRPr>
            </a:pPr>
            <a:r>
              <a:t>• Construct a weighted interaction graph from links, interactions, and content.</a:t>
            </a:r>
            <a:br/>
            <a:r>
              <a:t>• Measure content similarity and combine it with connection strength.</a:t>
            </a:r>
            <a:br/>
            <a:r>
              <a:t>• Detect communities using suitable graph algorithms.</a:t>
            </a:r>
            <a:br/>
            <a:r>
              <a:t>• Report partition quality using modularity, density, and conductance.</a:t>
            </a:r>
            <a:br/>
            <a:r>
              <a:t>• Visualize communities, sizes, and network structure.</a:t>
            </a:r>
            <a:br/>
            <a:r>
              <a:t>• Support analysis of large and complex graphs.</a:t>
            </a:r>
          </a:p>
        </p:txBody>
      </p:sp>
      <p:pic>
        <p:nvPicPr>
          <p:cNvPr id="16" name="Picture 15">
            <a:extLst>
              <a:ext uri="{FF2B5EF4-FFF2-40B4-BE49-F238E27FC236}">
                <a16:creationId xmlns:a16="http://schemas.microsoft.com/office/drawing/2014/main" id="{BE9BAD63-9790-0FCB-DF84-07175A84D146}"/>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Hardware and Software Requirements</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5</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685800" y="1143000"/>
            <a:ext cx="5212080" cy="438912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143000"/>
            <a:ext cx="82296" cy="4389120"/>
          </a:xfrm>
          <a:prstGeom prst="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307592"/>
            <a:ext cx="4846320" cy="384048"/>
          </a:xfrm>
          <a:prstGeom prst="rect">
            <a:avLst/>
          </a:prstGeom>
          <a:noFill/>
        </p:spPr>
        <p:txBody>
          <a:bodyPr wrap="none">
            <a:spAutoFit/>
          </a:bodyPr>
          <a:lstStyle/>
          <a:p>
            <a:pPr>
              <a:defRPr sz="1800" b="1">
                <a:solidFill>
                  <a:srgbClr val="192D4B"/>
                </a:solidFill>
              </a:defRPr>
            </a:pPr>
            <a:r>
              <a:t>Hardware Requirements</a:t>
            </a:r>
          </a:p>
        </p:txBody>
      </p:sp>
      <p:sp>
        <p:nvSpPr>
          <p:cNvPr id="10" name="TextBox 9"/>
          <p:cNvSpPr txBox="1"/>
          <p:nvPr/>
        </p:nvSpPr>
        <p:spPr>
          <a:xfrm>
            <a:off x="886968" y="1783080"/>
            <a:ext cx="4828032" cy="3611879"/>
          </a:xfrm>
          <a:prstGeom prst="rect">
            <a:avLst/>
          </a:prstGeom>
          <a:noFill/>
        </p:spPr>
        <p:txBody>
          <a:bodyPr wrap="square">
            <a:spAutoFit/>
          </a:bodyPr>
          <a:lstStyle/>
          <a:p>
            <a:pPr>
              <a:defRPr sz="1400">
                <a:solidFill>
                  <a:srgbClr val="282828"/>
                </a:solidFill>
              </a:defRPr>
            </a:pPr>
            <a:r>
              <a:t>• Processor: Intel Core i3 / equivalent or above</a:t>
            </a:r>
            <a:br/>
            <a:r>
              <a:t>• RAM: 8 GB minimum</a:t>
            </a:r>
            <a:br/>
            <a:r>
              <a:t>• Storage: 10 GB available space</a:t>
            </a:r>
            <a:br/>
            <a:r>
              <a:t>• Display: 1366 × 768 or higher</a:t>
            </a:r>
            <a:br/>
            <a:r>
              <a:t>• Internet connection for development and package installation</a:t>
            </a:r>
          </a:p>
        </p:txBody>
      </p:sp>
      <p:sp>
        <p:nvSpPr>
          <p:cNvPr id="11" name="Rounded Rectangle 10"/>
          <p:cNvSpPr/>
          <p:nvPr/>
        </p:nvSpPr>
        <p:spPr>
          <a:xfrm>
            <a:off x="6126480" y="1143000"/>
            <a:ext cx="5349240" cy="438912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143000"/>
            <a:ext cx="82296" cy="438912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27648" y="1307592"/>
            <a:ext cx="4983479" cy="384048"/>
          </a:xfrm>
          <a:prstGeom prst="rect">
            <a:avLst/>
          </a:prstGeom>
          <a:noFill/>
        </p:spPr>
        <p:txBody>
          <a:bodyPr wrap="none">
            <a:spAutoFit/>
          </a:bodyPr>
          <a:lstStyle/>
          <a:p>
            <a:pPr>
              <a:defRPr sz="1800" b="1">
                <a:solidFill>
                  <a:srgbClr val="192D4B"/>
                </a:solidFill>
              </a:defRPr>
            </a:pPr>
            <a:r>
              <a:t>Software Requirements</a:t>
            </a:r>
          </a:p>
        </p:txBody>
      </p:sp>
      <p:sp>
        <p:nvSpPr>
          <p:cNvPr id="14" name="TextBox 13"/>
          <p:cNvSpPr txBox="1"/>
          <p:nvPr/>
        </p:nvSpPr>
        <p:spPr>
          <a:xfrm>
            <a:off x="6327648" y="1783080"/>
            <a:ext cx="4965192" cy="3611879"/>
          </a:xfrm>
          <a:prstGeom prst="rect">
            <a:avLst/>
          </a:prstGeom>
          <a:noFill/>
        </p:spPr>
        <p:txBody>
          <a:bodyPr wrap="square">
            <a:spAutoFit/>
          </a:bodyPr>
          <a:lstStyle/>
          <a:p>
            <a:pPr>
              <a:defRPr sz="1400">
                <a:solidFill>
                  <a:srgbClr val="282828"/>
                </a:solidFill>
              </a:defRPr>
            </a:pPr>
            <a:r>
              <a:t>• Operating System: Windows / Linux</a:t>
            </a:r>
            <a:br/>
            <a:r>
              <a:t>• Programming Language: Python</a:t>
            </a:r>
            <a:br/>
            <a:r>
              <a:t>• Backend: Flask</a:t>
            </a:r>
            <a:br/>
            <a:r>
              <a:t>• Data Processing: Pandas, NumPy, Scikit-learn</a:t>
            </a:r>
            <a:br/>
            <a:r>
              <a:t>• Graph Analysis: NetworkX</a:t>
            </a:r>
            <a:br/>
            <a:r>
              <a:t>• Community Detection: Louvain / Leiden</a:t>
            </a:r>
            <a:br/>
            <a:r>
              <a:t>• Visualization: HTML, CSS, JavaScript, Cytoscape.js / D3.js</a:t>
            </a:r>
          </a:p>
        </p:txBody>
      </p:sp>
      <p:pic>
        <p:nvPicPr>
          <p:cNvPr id="16" name="Picture 15">
            <a:extLst>
              <a:ext uri="{FF2B5EF4-FFF2-40B4-BE49-F238E27FC236}">
                <a16:creationId xmlns:a16="http://schemas.microsoft.com/office/drawing/2014/main" id="{C179D9A9-5338-6794-0DDE-84ACFE4BC662}"/>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Results</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6</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594360" y="1143000"/>
            <a:ext cx="2240280" cy="777240"/>
          </a:xfrm>
          <a:prstGeom prst="round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Input Data</a:t>
            </a:r>
          </a:p>
        </p:txBody>
      </p:sp>
      <p:cxnSp>
        <p:nvCxnSpPr>
          <p:cNvPr id="8" name="Connector 7"/>
          <p:cNvCxnSpPr/>
          <p:nvPr/>
        </p:nvCxnSpPr>
        <p:spPr>
          <a:xfrm>
            <a:off x="2834640" y="1536192"/>
            <a:ext cx="548639" cy="0"/>
          </a:xfrm>
          <a:prstGeom prst="line">
            <a:avLst/>
          </a:prstGeom>
          <a:ln w="25400">
            <a:solidFill>
              <a:srgbClr val="64646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29000" y="1143000"/>
            <a:ext cx="2240280" cy="777240"/>
          </a:xfrm>
          <a:prstGeom prst="roundRect">
            <a:avLst/>
          </a:prstGeom>
          <a:solidFill>
            <a:srgbClr val="D29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Weighted Graph</a:t>
            </a:r>
          </a:p>
        </p:txBody>
      </p:sp>
      <p:cxnSp>
        <p:nvCxnSpPr>
          <p:cNvPr id="10" name="Connector 9"/>
          <p:cNvCxnSpPr/>
          <p:nvPr/>
        </p:nvCxnSpPr>
        <p:spPr>
          <a:xfrm>
            <a:off x="5669280" y="1536192"/>
            <a:ext cx="548640" cy="0"/>
          </a:xfrm>
          <a:prstGeom prst="line">
            <a:avLst/>
          </a:prstGeom>
          <a:ln w="25400">
            <a:solidFill>
              <a:srgbClr val="64646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63640" y="1143000"/>
            <a:ext cx="2240280" cy="777240"/>
          </a:xfrm>
          <a:prstGeom prst="round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Communities</a:t>
            </a:r>
          </a:p>
        </p:txBody>
      </p:sp>
      <p:cxnSp>
        <p:nvCxnSpPr>
          <p:cNvPr id="12" name="Connector 11"/>
          <p:cNvCxnSpPr/>
          <p:nvPr/>
        </p:nvCxnSpPr>
        <p:spPr>
          <a:xfrm>
            <a:off x="8503920" y="1536192"/>
            <a:ext cx="548640" cy="0"/>
          </a:xfrm>
          <a:prstGeom prst="line">
            <a:avLst/>
          </a:prstGeom>
          <a:ln w="25400">
            <a:solidFill>
              <a:srgbClr val="64646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098280" y="1143000"/>
            <a:ext cx="2240280" cy="777240"/>
          </a:xfrm>
          <a:prstGeom prst="round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Quality Metrics</a:t>
            </a:r>
          </a:p>
        </p:txBody>
      </p:sp>
      <p:sp>
        <p:nvSpPr>
          <p:cNvPr id="14" name="Rounded Rectangle 13"/>
          <p:cNvSpPr/>
          <p:nvPr/>
        </p:nvSpPr>
        <p:spPr>
          <a:xfrm>
            <a:off x="640080" y="2423160"/>
            <a:ext cx="3383280" cy="251460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2423160"/>
            <a:ext cx="82296" cy="2514600"/>
          </a:xfrm>
          <a:prstGeom prst="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7" y="2587752"/>
            <a:ext cx="3017520" cy="384048"/>
          </a:xfrm>
          <a:prstGeom prst="rect">
            <a:avLst/>
          </a:prstGeom>
          <a:noFill/>
        </p:spPr>
        <p:txBody>
          <a:bodyPr wrap="none">
            <a:spAutoFit/>
          </a:bodyPr>
          <a:lstStyle/>
          <a:p>
            <a:pPr>
              <a:defRPr sz="1800" b="1">
                <a:solidFill>
                  <a:srgbClr val="192D4B"/>
                </a:solidFill>
              </a:defRPr>
            </a:pPr>
            <a:r>
              <a:t>Expected Analysis Output</a:t>
            </a:r>
          </a:p>
        </p:txBody>
      </p:sp>
      <p:sp>
        <p:nvSpPr>
          <p:cNvPr id="17" name="TextBox 16"/>
          <p:cNvSpPr txBox="1"/>
          <p:nvPr/>
        </p:nvSpPr>
        <p:spPr>
          <a:xfrm>
            <a:off x="841247" y="3063239"/>
            <a:ext cx="2999232" cy="1737360"/>
          </a:xfrm>
          <a:prstGeom prst="rect">
            <a:avLst/>
          </a:prstGeom>
          <a:noFill/>
        </p:spPr>
        <p:txBody>
          <a:bodyPr wrap="square">
            <a:spAutoFit/>
          </a:bodyPr>
          <a:lstStyle/>
          <a:p>
            <a:pPr>
              <a:defRPr sz="1400">
                <a:solidFill>
                  <a:srgbClr val="282828"/>
                </a:solidFill>
              </a:defRPr>
            </a:pPr>
            <a:r>
              <a:t>• Network structure visualization</a:t>
            </a:r>
            <a:br/>
            <a:r>
              <a:t>• Community assignments</a:t>
            </a:r>
            <a:br/>
            <a:r>
              <a:t>• Community sizes</a:t>
            </a:r>
            <a:br/>
            <a:r>
              <a:t>• Partition summary</a:t>
            </a:r>
            <a:br/>
            <a:r>
              <a:t>• Strong and weak interaction patterns</a:t>
            </a:r>
          </a:p>
        </p:txBody>
      </p:sp>
      <p:sp>
        <p:nvSpPr>
          <p:cNvPr id="18" name="Rounded Rectangle 17"/>
          <p:cNvSpPr/>
          <p:nvPr/>
        </p:nvSpPr>
        <p:spPr>
          <a:xfrm>
            <a:off x="4389120" y="2423160"/>
            <a:ext cx="3383280" cy="251460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89120" y="2423160"/>
            <a:ext cx="82296" cy="251460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90288" y="2587752"/>
            <a:ext cx="3017520" cy="384048"/>
          </a:xfrm>
          <a:prstGeom prst="rect">
            <a:avLst/>
          </a:prstGeom>
          <a:noFill/>
        </p:spPr>
        <p:txBody>
          <a:bodyPr wrap="none">
            <a:spAutoFit/>
          </a:bodyPr>
          <a:lstStyle/>
          <a:p>
            <a:pPr>
              <a:defRPr sz="1800" b="1">
                <a:solidFill>
                  <a:srgbClr val="192D4B"/>
                </a:solidFill>
              </a:defRPr>
            </a:pPr>
            <a:r>
              <a:t>Quality Reporting</a:t>
            </a:r>
          </a:p>
        </p:txBody>
      </p:sp>
      <p:sp>
        <p:nvSpPr>
          <p:cNvPr id="21" name="TextBox 20"/>
          <p:cNvSpPr txBox="1"/>
          <p:nvPr/>
        </p:nvSpPr>
        <p:spPr>
          <a:xfrm>
            <a:off x="4590288" y="3063239"/>
            <a:ext cx="2999232" cy="1737360"/>
          </a:xfrm>
          <a:prstGeom prst="rect">
            <a:avLst/>
          </a:prstGeom>
          <a:noFill/>
        </p:spPr>
        <p:txBody>
          <a:bodyPr wrap="square">
            <a:spAutoFit/>
          </a:bodyPr>
          <a:lstStyle/>
          <a:p>
            <a:pPr>
              <a:defRPr sz="1400">
                <a:solidFill>
                  <a:srgbClr val="282828"/>
                </a:solidFill>
              </a:defRPr>
            </a:pPr>
            <a:r>
              <a:t>• Modularity</a:t>
            </a:r>
            <a:br/>
            <a:r>
              <a:t>• Density</a:t>
            </a:r>
            <a:br/>
            <a:r>
              <a:t>• Conductance</a:t>
            </a:r>
            <a:br/>
            <a:r>
              <a:t>• Internal vs. external connectivity</a:t>
            </a:r>
            <a:br/>
            <a:r>
              <a:t>• Comparative partition quality</a:t>
            </a:r>
          </a:p>
        </p:txBody>
      </p:sp>
      <p:sp>
        <p:nvSpPr>
          <p:cNvPr id="22" name="Rounded Rectangle 21"/>
          <p:cNvSpPr/>
          <p:nvPr/>
        </p:nvSpPr>
        <p:spPr>
          <a:xfrm>
            <a:off x="8138160" y="2423160"/>
            <a:ext cx="3383280" cy="251460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38160" y="2423160"/>
            <a:ext cx="82296" cy="251460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39328" y="2587752"/>
            <a:ext cx="3017520" cy="384048"/>
          </a:xfrm>
          <a:prstGeom prst="rect">
            <a:avLst/>
          </a:prstGeom>
          <a:noFill/>
        </p:spPr>
        <p:txBody>
          <a:bodyPr wrap="none">
            <a:spAutoFit/>
          </a:bodyPr>
          <a:lstStyle/>
          <a:p>
            <a:pPr>
              <a:defRPr sz="1800" b="1">
                <a:solidFill>
                  <a:srgbClr val="192D4B"/>
                </a:solidFill>
              </a:defRPr>
            </a:pPr>
            <a:r>
              <a:t>Platform Result</a:t>
            </a:r>
          </a:p>
        </p:txBody>
      </p:sp>
      <p:sp>
        <p:nvSpPr>
          <p:cNvPr id="25" name="TextBox 24"/>
          <p:cNvSpPr txBox="1"/>
          <p:nvPr/>
        </p:nvSpPr>
        <p:spPr>
          <a:xfrm>
            <a:off x="8339328" y="3063239"/>
            <a:ext cx="2999232" cy="1737360"/>
          </a:xfrm>
          <a:prstGeom prst="rect">
            <a:avLst/>
          </a:prstGeom>
          <a:noFill/>
        </p:spPr>
        <p:txBody>
          <a:bodyPr wrap="square">
            <a:spAutoFit/>
          </a:bodyPr>
          <a:lstStyle/>
          <a:p>
            <a:pPr>
              <a:defRPr sz="1400">
                <a:solidFill>
                  <a:srgbClr val="282828"/>
                </a:solidFill>
              </a:defRPr>
            </a:pPr>
            <a:r>
              <a:t>An interactive dashboard that allows users to inspect the graph, understand detected groups, and evaluate how well the partition represents the network.</a:t>
            </a:r>
          </a:p>
        </p:txBody>
      </p:sp>
      <p:sp>
        <p:nvSpPr>
          <p:cNvPr id="26" name="TextBox 25"/>
          <p:cNvSpPr txBox="1"/>
          <p:nvPr/>
        </p:nvSpPr>
        <p:spPr>
          <a:xfrm>
            <a:off x="777240" y="5303520"/>
            <a:ext cx="10515600" cy="731520"/>
          </a:xfrm>
          <a:prstGeom prst="rect">
            <a:avLst/>
          </a:prstGeom>
          <a:noFill/>
        </p:spPr>
        <p:txBody>
          <a:bodyPr wrap="none">
            <a:spAutoFit/>
          </a:bodyPr>
          <a:lstStyle/>
          <a:p>
            <a:pPr>
              <a:defRPr sz="1300" i="1">
                <a:solidFill>
                  <a:srgbClr val="646464"/>
                </a:solidFill>
              </a:defRPr>
            </a:pPr>
            <a:r>
              <a:t>Note: The abstract specifies the result types and metrics; numerical performance values are to be obtained after implementation and testing.</a:t>
            </a:r>
          </a:p>
        </p:txBody>
      </p:sp>
      <p:pic>
        <p:nvPicPr>
          <p:cNvPr id="28" name="Picture 27">
            <a:extLst>
              <a:ext uri="{FF2B5EF4-FFF2-40B4-BE49-F238E27FC236}">
                <a16:creationId xmlns:a16="http://schemas.microsoft.com/office/drawing/2014/main" id="{5CDB0DBB-E02A-029B-0D7A-9E0865AB1B69}"/>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92181-6E63-3F97-E427-9BA157043030}"/>
              </a:ext>
            </a:extLst>
          </p:cNvPr>
          <p:cNvSpPr>
            <a:spLocks noGrp="1"/>
          </p:cNvSpPr>
          <p:nvPr>
            <p:ph type="title"/>
          </p:nvPr>
        </p:nvSpPr>
        <p:spPr/>
        <p:txBody>
          <a:bodyPr/>
          <a:lstStyle/>
          <a:p>
            <a:r>
              <a:rPr lang="en-US" dirty="0"/>
              <a:t>          CODE</a:t>
            </a:r>
          </a:p>
        </p:txBody>
      </p:sp>
      <p:pic>
        <p:nvPicPr>
          <p:cNvPr id="4" name="Picture 3">
            <a:extLst>
              <a:ext uri="{FF2B5EF4-FFF2-40B4-BE49-F238E27FC236}">
                <a16:creationId xmlns:a16="http://schemas.microsoft.com/office/drawing/2014/main" id="{525B00AF-C3D2-20DC-4C2B-C2880FFE4271}"/>
              </a:ext>
            </a:extLst>
          </p:cNvPr>
          <p:cNvPicPr>
            <a:picLocks noChangeAspect="1"/>
          </p:cNvPicPr>
          <p:nvPr/>
        </p:nvPicPr>
        <p:blipFill>
          <a:blip r:embed="rId2"/>
          <a:stretch>
            <a:fillRect/>
          </a:stretch>
        </p:blipFill>
        <p:spPr>
          <a:xfrm>
            <a:off x="597960" y="1157452"/>
            <a:ext cx="10524132" cy="5425910"/>
          </a:xfrm>
          <a:prstGeom prst="rect">
            <a:avLst/>
          </a:prstGeom>
        </p:spPr>
      </p:pic>
      <p:pic>
        <p:nvPicPr>
          <p:cNvPr id="6" name="Picture 5">
            <a:extLst>
              <a:ext uri="{FF2B5EF4-FFF2-40B4-BE49-F238E27FC236}">
                <a16:creationId xmlns:a16="http://schemas.microsoft.com/office/drawing/2014/main" id="{A430C417-BF88-8828-C782-3821DA484530}"/>
              </a:ext>
            </a:extLst>
          </p:cNvPr>
          <p:cNvPicPr>
            <a:picLocks noChangeAspect="1"/>
          </p:cNvPicPr>
          <p:nvPr/>
        </p:nvPicPr>
        <p:blipFill>
          <a:blip r:embed="rId3"/>
          <a:stretch>
            <a:fillRect/>
          </a:stretch>
        </p:blipFill>
        <p:spPr>
          <a:xfrm>
            <a:off x="9800492" y="1"/>
            <a:ext cx="2391508" cy="1070708"/>
          </a:xfrm>
          <a:prstGeom prst="rect">
            <a:avLst/>
          </a:prstGeom>
        </p:spPr>
      </p:pic>
    </p:spTree>
    <p:extLst>
      <p:ext uri="{BB962C8B-B14F-4D97-AF65-F5344CB8AC3E}">
        <p14:creationId xmlns:p14="http://schemas.microsoft.com/office/powerpoint/2010/main" val="811944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CD79-93C0-8513-A0F8-69B40FBD1FCF}"/>
              </a:ext>
            </a:extLst>
          </p:cNvPr>
          <p:cNvSpPr>
            <a:spLocks noGrp="1"/>
          </p:cNvSpPr>
          <p:nvPr>
            <p:ph type="title"/>
          </p:nvPr>
        </p:nvSpPr>
        <p:spPr/>
        <p:txBody>
          <a:bodyPr/>
          <a:lstStyle/>
          <a:p>
            <a:r>
              <a:rPr lang="en-US" dirty="0"/>
              <a:t>SCREENSHOTS OF OUR PROJECT</a:t>
            </a:r>
          </a:p>
        </p:txBody>
      </p:sp>
      <p:sp>
        <p:nvSpPr>
          <p:cNvPr id="3" name="Text Placeholder 2">
            <a:extLst>
              <a:ext uri="{FF2B5EF4-FFF2-40B4-BE49-F238E27FC236}">
                <a16:creationId xmlns:a16="http://schemas.microsoft.com/office/drawing/2014/main" id="{A8CCA2F9-DD34-C9A6-B0D4-9E69DBBE8BFB}"/>
              </a:ext>
            </a:extLst>
          </p:cNvPr>
          <p:cNvSpPr>
            <a:spLocks noGrp="1"/>
          </p:cNvSpPr>
          <p:nvPr>
            <p:ph type="body" idx="1"/>
          </p:nvPr>
        </p:nvSpPr>
        <p:spPr/>
        <p:txBody>
          <a:bodyPr/>
          <a:lstStyle/>
          <a:p>
            <a:r>
              <a:rPr lang="en-US" dirty="0"/>
              <a:t>DASHBOARD</a:t>
            </a:r>
          </a:p>
        </p:txBody>
      </p:sp>
      <p:pic>
        <p:nvPicPr>
          <p:cNvPr id="8" name="Content Placeholder 7">
            <a:extLst>
              <a:ext uri="{FF2B5EF4-FFF2-40B4-BE49-F238E27FC236}">
                <a16:creationId xmlns:a16="http://schemas.microsoft.com/office/drawing/2014/main" id="{5135030A-DD70-3361-A971-3040F046E34C}"/>
              </a:ext>
            </a:extLst>
          </p:cNvPr>
          <p:cNvPicPr>
            <a:picLocks noGrp="1" noChangeAspect="1"/>
          </p:cNvPicPr>
          <p:nvPr>
            <p:ph sz="half" idx="2"/>
          </p:nvPr>
        </p:nvPicPr>
        <p:blipFill>
          <a:blip r:embed="rId2"/>
          <a:stretch>
            <a:fillRect/>
          </a:stretch>
        </p:blipFill>
        <p:spPr>
          <a:xfrm>
            <a:off x="457200" y="3170018"/>
            <a:ext cx="4040188" cy="1961001"/>
          </a:xfrm>
          <a:prstGeom prst="rect">
            <a:avLst/>
          </a:prstGeom>
        </p:spPr>
      </p:pic>
      <p:sp>
        <p:nvSpPr>
          <p:cNvPr id="5" name="Text Placeholder 4">
            <a:extLst>
              <a:ext uri="{FF2B5EF4-FFF2-40B4-BE49-F238E27FC236}">
                <a16:creationId xmlns:a16="http://schemas.microsoft.com/office/drawing/2014/main" id="{EF127933-AB36-0BA5-1C2E-66C9044E7300}"/>
              </a:ext>
            </a:extLst>
          </p:cNvPr>
          <p:cNvSpPr>
            <a:spLocks noGrp="1"/>
          </p:cNvSpPr>
          <p:nvPr>
            <p:ph type="body" sz="quarter" idx="3"/>
          </p:nvPr>
        </p:nvSpPr>
        <p:spPr/>
        <p:txBody>
          <a:bodyPr/>
          <a:lstStyle/>
          <a:p>
            <a:r>
              <a:rPr lang="en-US" dirty="0"/>
              <a:t>CSV FILE</a:t>
            </a:r>
          </a:p>
        </p:txBody>
      </p:sp>
      <p:pic>
        <p:nvPicPr>
          <p:cNvPr id="12" name="Content Placeholder 11">
            <a:extLst>
              <a:ext uri="{FF2B5EF4-FFF2-40B4-BE49-F238E27FC236}">
                <a16:creationId xmlns:a16="http://schemas.microsoft.com/office/drawing/2014/main" id="{E14E450C-686E-0779-1EB4-B7147B23719B}"/>
              </a:ext>
            </a:extLst>
          </p:cNvPr>
          <p:cNvPicPr>
            <a:picLocks noGrp="1" noChangeAspect="1"/>
          </p:cNvPicPr>
          <p:nvPr>
            <p:ph sz="quarter" idx="4"/>
          </p:nvPr>
        </p:nvPicPr>
        <p:blipFill>
          <a:blip r:embed="rId3"/>
          <a:stretch>
            <a:fillRect/>
          </a:stretch>
        </p:blipFill>
        <p:spPr>
          <a:xfrm>
            <a:off x="4645025" y="3199124"/>
            <a:ext cx="4041775" cy="1902790"/>
          </a:xfrm>
          <a:prstGeom prst="rect">
            <a:avLst/>
          </a:prstGeom>
        </p:spPr>
      </p:pic>
    </p:spTree>
    <p:extLst>
      <p:ext uri="{BB962C8B-B14F-4D97-AF65-F5344CB8AC3E}">
        <p14:creationId xmlns:p14="http://schemas.microsoft.com/office/powerpoint/2010/main" val="193529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Conclusion</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7</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777240" y="1234440"/>
            <a:ext cx="10652760" cy="416052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234440"/>
            <a:ext cx="82296" cy="416052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399032"/>
            <a:ext cx="10287000" cy="384048"/>
          </a:xfrm>
          <a:prstGeom prst="rect">
            <a:avLst/>
          </a:prstGeom>
          <a:noFill/>
        </p:spPr>
        <p:txBody>
          <a:bodyPr wrap="none">
            <a:spAutoFit/>
          </a:bodyPr>
          <a:lstStyle/>
          <a:p>
            <a:pPr>
              <a:defRPr sz="1800" b="1">
                <a:solidFill>
                  <a:srgbClr val="192D4B"/>
                </a:solidFill>
              </a:defRPr>
            </a:pPr>
            <a:r>
              <a:t>Conclusion</a:t>
            </a:r>
          </a:p>
        </p:txBody>
      </p:sp>
      <p:sp>
        <p:nvSpPr>
          <p:cNvPr id="10" name="TextBox 9"/>
          <p:cNvSpPr txBox="1"/>
          <p:nvPr/>
        </p:nvSpPr>
        <p:spPr>
          <a:xfrm>
            <a:off x="978408" y="1874519"/>
            <a:ext cx="10268712" cy="3383279"/>
          </a:xfrm>
          <a:prstGeom prst="rect">
            <a:avLst/>
          </a:prstGeom>
          <a:noFill/>
        </p:spPr>
        <p:txBody>
          <a:bodyPr wrap="square">
            <a:spAutoFit/>
          </a:bodyPr>
          <a:lstStyle/>
          <a:p>
            <a:pPr>
              <a:defRPr sz="1400">
                <a:solidFill>
                  <a:srgbClr val="282828"/>
                </a:solidFill>
              </a:defRPr>
            </a:pPr>
            <a:r>
              <a:t>The Community-Detection Platform provides a unified approach for analyzing complex networks by combining content information with graph structure. A weighted interaction graph represents both connection strength and content similarity, allowing communities to be identified using graph-based detection techniques. The platform also provides quality metrics such as modularity, density, and conductance to make partition results easier to evaluate. Through an interactive dashboard, users can inspect network structure, community sizes, and detected groups. The approach is suitable for social, collaboration, and communication networks and can support practical analysis in moderation, marketing, research, and communication applications.</a:t>
            </a:r>
          </a:p>
        </p:txBody>
      </p:sp>
      <p:pic>
        <p:nvPicPr>
          <p:cNvPr id="12" name="Picture 11">
            <a:extLst>
              <a:ext uri="{FF2B5EF4-FFF2-40B4-BE49-F238E27FC236}">
                <a16:creationId xmlns:a16="http://schemas.microsoft.com/office/drawing/2014/main" id="{69154A9C-3A21-AC00-2D82-7BFA5942333E}"/>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Future Scope</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8</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TextBox 6"/>
          <p:cNvSpPr txBox="1"/>
          <p:nvPr/>
        </p:nvSpPr>
        <p:spPr>
          <a:xfrm>
            <a:off x="822960" y="1234440"/>
            <a:ext cx="10515600" cy="4389120"/>
          </a:xfrm>
          <a:prstGeom prst="rect">
            <a:avLst/>
          </a:prstGeom>
          <a:noFill/>
        </p:spPr>
        <p:txBody>
          <a:bodyPr wrap="square">
            <a:spAutoFit/>
          </a:bodyPr>
          <a:lstStyle/>
          <a:p>
            <a:pPr>
              <a:spcAft>
                <a:spcPts val="1000"/>
              </a:spcAft>
              <a:defRPr sz="1900">
                <a:solidFill>
                  <a:srgbClr val="282828"/>
                </a:solidFill>
                <a:latin typeface="Aptos"/>
              </a:defRPr>
            </a:pPr>
            <a:r>
              <a:t>• Support very large graphs using sparse data structures and distributed graph processing.</a:t>
            </a:r>
          </a:p>
          <a:p>
            <a:pPr>
              <a:spcAft>
                <a:spcPts val="1000"/>
              </a:spcAft>
              <a:defRPr sz="1900">
                <a:solidFill>
                  <a:srgbClr val="282828"/>
                </a:solidFill>
                <a:latin typeface="Aptos"/>
              </a:defRPr>
            </a:pPr>
            <a:r>
              <a:t>• Use advanced language models or embeddings for richer content similarity.</a:t>
            </a:r>
          </a:p>
          <a:p>
            <a:pPr>
              <a:spcAft>
                <a:spcPts val="1000"/>
              </a:spcAft>
              <a:defRPr sz="1900">
                <a:solidFill>
                  <a:srgbClr val="282828"/>
                </a:solidFill>
                <a:latin typeface="Aptos"/>
              </a:defRPr>
            </a:pPr>
            <a:r>
              <a:t>• Add real-time community detection for continuously changing networks.</a:t>
            </a:r>
          </a:p>
          <a:p>
            <a:pPr>
              <a:spcAft>
                <a:spcPts val="1000"/>
              </a:spcAft>
              <a:defRPr sz="1900">
                <a:solidFill>
                  <a:srgbClr val="282828"/>
                </a:solidFill>
                <a:latin typeface="Aptos"/>
              </a:defRPr>
            </a:pPr>
            <a:r>
              <a:t>• Compare more community detection algorithms and automatically select the best partition.</a:t>
            </a:r>
          </a:p>
          <a:p>
            <a:pPr>
              <a:spcAft>
                <a:spcPts val="1000"/>
              </a:spcAft>
              <a:defRPr sz="1900">
                <a:solidFill>
                  <a:srgbClr val="282828"/>
                </a:solidFill>
                <a:latin typeface="Aptos"/>
              </a:defRPr>
            </a:pPr>
            <a:r>
              <a:t>• Add role-based dashboards and exportable analytical reports.</a:t>
            </a:r>
          </a:p>
          <a:p>
            <a:pPr>
              <a:spcAft>
                <a:spcPts val="1000"/>
              </a:spcAft>
              <a:defRPr sz="1900">
                <a:solidFill>
                  <a:srgbClr val="282828"/>
                </a:solidFill>
                <a:latin typeface="Aptos"/>
              </a:defRPr>
            </a:pPr>
            <a:r>
              <a:t>• Extend the platform to dynamic, temporal, and multilayer networks.</a:t>
            </a:r>
          </a:p>
        </p:txBody>
      </p:sp>
      <p:sp>
        <p:nvSpPr>
          <p:cNvPr id="8" name="Rounded Rectangle 7"/>
          <p:cNvSpPr/>
          <p:nvPr/>
        </p:nvSpPr>
        <p:spPr>
          <a:xfrm>
            <a:off x="2148840" y="5715000"/>
            <a:ext cx="7909560" cy="502920"/>
          </a:xfrm>
          <a:prstGeom prst="round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Goal: scalable, interpretable, content-aware community analysis</a:t>
            </a:r>
          </a:p>
        </p:txBody>
      </p:sp>
      <p:pic>
        <p:nvPicPr>
          <p:cNvPr id="10" name="Picture 9">
            <a:extLst>
              <a:ext uri="{FF2B5EF4-FFF2-40B4-BE49-F238E27FC236}">
                <a16:creationId xmlns:a16="http://schemas.microsoft.com/office/drawing/2014/main" id="{5F7992B5-2ABD-14E8-DD49-C454A5948F1F}"/>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19</TotalTime>
  <Words>1013</Words>
  <Application>Microsoft Office PowerPoint</Application>
  <PresentationFormat>Widescreen</PresentationFormat>
  <Paragraphs>81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CODE</vt:lpstr>
      <vt:lpstr>SCREENSHOTS OF OUR PROJECT</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Sai Charan Reddy</cp:lastModifiedBy>
  <cp:revision>5</cp:revision>
  <dcterms:created xsi:type="dcterms:W3CDTF">2013-01-27T09:14:16Z</dcterms:created>
  <dcterms:modified xsi:type="dcterms:W3CDTF">2026-10-12T06:05:08Z</dcterms:modified>
  <cp:category/>
</cp:coreProperties>
</file>